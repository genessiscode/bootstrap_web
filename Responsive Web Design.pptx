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7" r:id="rId2"/>
    <p:sldId id="276" r:id="rId3"/>
    <p:sldId id="277" r:id="rId4"/>
    <p:sldId id="278" r:id="rId5"/>
    <p:sldId id="301" r:id="rId6"/>
    <p:sldId id="279" r:id="rId7"/>
    <p:sldId id="280" r:id="rId8"/>
    <p:sldId id="281" r:id="rId9"/>
    <p:sldId id="296" r:id="rId10"/>
    <p:sldId id="282" r:id="rId11"/>
    <p:sldId id="283" r:id="rId12"/>
    <p:sldId id="297" r:id="rId13"/>
    <p:sldId id="300" r:id="rId14"/>
    <p:sldId id="284" r:id="rId15"/>
    <p:sldId id="285" r:id="rId16"/>
    <p:sldId id="303" r:id="rId17"/>
    <p:sldId id="286" r:id="rId18"/>
    <p:sldId id="298" r:id="rId19"/>
    <p:sldId id="289" r:id="rId20"/>
    <p:sldId id="290" r:id="rId21"/>
    <p:sldId id="291" r:id="rId22"/>
    <p:sldId id="304" r:id="rId23"/>
    <p:sldId id="292" r:id="rId24"/>
    <p:sldId id="306" r:id="rId25"/>
    <p:sldId id="293" r:id="rId26"/>
    <p:sldId id="294" r:id="rId27"/>
    <p:sldId id="295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25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77D2E-3D3E-4048-B845-91B099CC337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19DBA-AD06-467A-AD17-60833C966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4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cdn/glossary/internet-exchange-point-ixp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4B2B26-473E-46F6-8157-F33CC437B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70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a CDN work?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its core, a CDN is a network of servers linked together with the goal of delivering content as quickly, cheaply, reliably, and securely as possible. In order to improve speed and connectivity, a CDN will place servers at the exchange points between different networks.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Internet exchange points (IXPs)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the primary locations where different Internet providers connect in order to provide each other access to traffic originating on their different networks. By having a connection to these high speed and highly interconnected locations, a CDN provider is able to reduce costs and transit times in high speed data delivery.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4B2B26-473E-46F6-8157-F33CC437B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13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4B2B26-473E-46F6-8157-F33CC437B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821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we put a # in the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attribute of the link?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we do not have any page to link it to, and we do not want to get a "404" message, we put # as the link in our examples. It should be a real URL to a specific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4B2B26-473E-46F6-8157-F33CC437B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49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3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9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bootstrap/default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0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2058" y="450221"/>
            <a:ext cx="11272742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100669" y="1097339"/>
            <a:ext cx="10011831" cy="262388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6600">
                <a:solidFill>
                  <a:srgbClr val="FFFFFF"/>
                </a:solidFill>
              </a:rPr>
              <a:t>Responsive Web Design</a:t>
            </a:r>
          </a:p>
        </p:txBody>
      </p:sp>
      <p:sp>
        <p:nvSpPr>
          <p:cNvPr id="2062" name="Rectangle 20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4517136"/>
            <a:ext cx="2112264" cy="1892808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3" name="Rectangle 20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733989" y="4521269"/>
            <a:ext cx="6720830" cy="1877811"/>
          </a:xfrm>
          <a:prstGeom prst="rect">
            <a:avLst/>
          </a:prstGeom>
          <a:solidFill>
            <a:srgbClr val="7F7F7F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4" name="Rectangle 20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19345" y="4521270"/>
            <a:ext cx="2115455" cy="189020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08800" y="5979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Mr. Pubudu Nallaperuma</a:t>
            </a:r>
          </a:p>
        </p:txBody>
      </p:sp>
    </p:spTree>
    <p:extLst>
      <p:ext uri="{BB962C8B-B14F-4D97-AF65-F5344CB8AC3E}">
        <p14:creationId xmlns:p14="http://schemas.microsoft.com/office/powerpoint/2010/main" val="279292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07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FFFF"/>
                </a:solidFill>
              </a:rPr>
              <a:t>What is Responsive Web Design?</a:t>
            </a:r>
          </a:p>
        </p:txBody>
      </p:sp>
      <p:sp>
        <p:nvSpPr>
          <p:cNvPr id="3082" name="Rectangle 308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84" name="Rectangle 30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86" name="Rectangle 308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700"/>
              <a:t>Responsive web design is about creating web sites which automatically adjust themselves to look good on all devices, from small phones to large desktops.</a:t>
            </a:r>
            <a:endParaRPr lang="en-US" altLang="en-US" sz="2700" b="1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700"/>
              <a:t>Bootstrap is the most popular HTML, CSS, and JavaScript framework for developing responsive, mobile-first web sites.</a:t>
            </a:r>
            <a:endParaRPr lang="en-US" altLang="en-US" sz="270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50000"/>
              </a:lnSpc>
            </a:pPr>
            <a:endParaRPr lang="en-US" altLang="en-US" sz="27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530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410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>
                <a:solidFill>
                  <a:srgbClr val="FFFFFF"/>
                </a:solidFill>
              </a:rPr>
              <a:t>What is Bootstrap?</a:t>
            </a:r>
          </a:p>
        </p:txBody>
      </p:sp>
      <p:sp>
        <p:nvSpPr>
          <p:cNvPr id="4106" name="Rectangle 410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08" name="Rectangle 410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135294" y="514334"/>
            <a:ext cx="7512043" cy="5820185"/>
          </a:xfrm>
        </p:spPr>
        <p:txBody>
          <a:bodyPr anchor="ctr"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/>
              <a:t>Bootstrap is a free front-end framework for faster and easier web development</a:t>
            </a:r>
            <a:endParaRPr lang="en-US" sz="3600" dirty="0"/>
          </a:p>
          <a:p>
            <a:pPr algn="just">
              <a:lnSpc>
                <a:spcPct val="150000"/>
              </a:lnSpc>
            </a:pPr>
            <a:r>
              <a:rPr lang="en-US" altLang="en-US" sz="3200" dirty="0"/>
              <a:t>Bootstrap includes HTML and CSS based design templates for typography, forms, buttons, tables, navigation, modals, image carousels and many other, as well as optional JavaScript plugins</a:t>
            </a:r>
            <a:endParaRPr lang="en-US" altLang="en-US" sz="3200" dirty="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3200" dirty="0"/>
              <a:t>Bootstrap also gives you the ability to easily create responsive designs.</a:t>
            </a:r>
            <a:endParaRPr lang="en-US" altLang="en-US" sz="3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244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>
                <a:solidFill>
                  <a:srgbClr val="FFFFFF"/>
                </a:solidFill>
              </a:rPr>
              <a:t>Bootstrap History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600"/>
              <a:t>Bootstrap was developed by Mark Otto and Jacob Thornton at Twitter and released as an </a:t>
            </a:r>
            <a:r>
              <a:rPr lang="en-US" altLang="en-US" sz="2600" b="1"/>
              <a:t>open-source product</a:t>
            </a:r>
            <a:r>
              <a:rPr lang="en-US" altLang="en-US" sz="2600"/>
              <a:t> in August 2011 on GitHub.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altLang="en-US" sz="2600"/>
              <a:t>Main Advantages:</a:t>
            </a:r>
            <a:endParaRPr lang="en-US" altLang="en-US" sz="2600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600" b="1"/>
              <a:t>Easy to use</a:t>
            </a:r>
            <a:endParaRPr lang="en-US" altLang="en-US" sz="260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600" b="1"/>
              <a:t>Responsive features</a:t>
            </a:r>
            <a:endParaRPr lang="en-US" altLang="en-US" sz="260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600" b="1"/>
              <a:t>Mobile-first approach</a:t>
            </a:r>
            <a:endParaRPr lang="en-US" altLang="en-US" sz="2600" b="1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600" b="1"/>
              <a:t>Browser compatibility</a:t>
            </a:r>
            <a:br>
              <a:rPr lang="en-US" altLang="en-US" sz="2600"/>
            </a:br>
            <a:endParaRPr lang="en-US" altLang="en-US" sz="26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5294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>
                <a:solidFill>
                  <a:srgbClr val="FFFFFF"/>
                </a:solidFill>
              </a:rPr>
              <a:t>Bootstrap History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600" dirty="0"/>
              <a:t>Bootstrap 5 </a:t>
            </a:r>
            <a:r>
              <a:rPr lang="en-US" dirty="0"/>
              <a:t>is the newest version of Bootstrap; with new components, faster stylesheets, more responsiveness etc.</a:t>
            </a:r>
          </a:p>
          <a:p>
            <a:pPr algn="just">
              <a:lnSpc>
                <a:spcPct val="150000"/>
              </a:lnSpc>
            </a:pPr>
            <a:endParaRPr lang="en-US" altLang="en-US" sz="2600" dirty="0"/>
          </a:p>
          <a:p>
            <a:pPr algn="just">
              <a:lnSpc>
                <a:spcPct val="150000"/>
              </a:lnSpc>
            </a:pPr>
            <a:r>
              <a:rPr lang="en-US" dirty="0"/>
              <a:t>The main differences between Bootstrap 5 and Bootstrap 3 &amp; 4, is that Bootstrap 5 has switched to JavaScript instead of jQuery.</a:t>
            </a:r>
            <a:endParaRPr lang="en-US" altLang="en-US" sz="26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260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61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>
                <a:solidFill>
                  <a:srgbClr val="FFFFFF"/>
                </a:solidFill>
              </a:rPr>
              <a:t>Getting Bootstrap</a:t>
            </a:r>
          </a:p>
        </p:txBody>
      </p:sp>
      <p:sp>
        <p:nvSpPr>
          <p:cNvPr id="6154" name="Rectangle 61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56" name="Rectangle 61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58" name="Rectangle 61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45041" y="2482084"/>
            <a:ext cx="11187200" cy="385835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/>
              <a:t>There are two ways to start using Bootstrap on your own web site.</a:t>
            </a:r>
            <a:endParaRPr lang="en-US" sz="2400" dirty="0">
              <a:cs typeface="Calibri" panose="020F0502020204030204"/>
            </a:endParaRP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Download Bootstrap from getbootstrap.com</a:t>
            </a:r>
            <a:endParaRPr lang="en-US" altLang="en-US" dirty="0">
              <a:cs typeface="Calibri" panose="020F0502020204030204"/>
            </a:endParaRP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Include Bootstrap from a </a:t>
            </a:r>
            <a:r>
              <a:rPr lang="en-US" altLang="en-US" b="1" dirty="0"/>
              <a:t>CDN</a:t>
            </a:r>
            <a:endParaRPr lang="en-US" altLang="en-US" b="1" dirty="0">
              <a:cs typeface="Calibri" panose="020F0502020204030204"/>
            </a:endParaRPr>
          </a:p>
          <a:p>
            <a:pPr lvl="2" algn="just">
              <a:lnSpc>
                <a:spcPct val="150000"/>
              </a:lnSpc>
            </a:pPr>
            <a:r>
              <a:rPr lang="en-US" altLang="en-US" sz="2400" dirty="0"/>
              <a:t>If you don't want to download and host Bootstrap yourself, you can include it from a </a:t>
            </a:r>
            <a:r>
              <a:rPr lang="en-US" altLang="en-US" sz="2400" b="1" dirty="0"/>
              <a:t>CDN (Content Delivery Network).</a:t>
            </a:r>
            <a:endParaRPr lang="en-US" altLang="en-US" sz="2400" b="1" dirty="0">
              <a:cs typeface="Calibri" panose="020F0502020204030204"/>
            </a:endParaRPr>
          </a:p>
          <a:p>
            <a:pPr lvl="2" algn="just">
              <a:lnSpc>
                <a:spcPct val="150000"/>
              </a:lnSpc>
            </a:pPr>
            <a:r>
              <a:rPr lang="en-US" altLang="en-US" sz="2400" b="1" dirty="0" err="1"/>
              <a:t>MaxCDN</a:t>
            </a:r>
            <a:r>
              <a:rPr lang="en-US" altLang="en-US" sz="2400" dirty="0"/>
              <a:t> provides CDN support for Bootstrap's CSS and JavaScript. You must also include jQuery.</a:t>
            </a:r>
            <a:endParaRPr lang="en-US" altLang="en-US" sz="24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68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4" name="Rectangle 717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Bootstrap CDN</a:t>
            </a:r>
          </a:p>
        </p:txBody>
      </p:sp>
      <p:sp>
        <p:nvSpPr>
          <p:cNvPr id="7185" name="Rectangle 717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86" name="Rectangle 717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092162" y="442448"/>
            <a:ext cx="7698949" cy="5906448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altLang="en-US" sz="1600" dirty="0"/>
              <a:t>You must include the following Bootstrap’s CSS, JavaScript, and jQuery from </a:t>
            </a:r>
            <a:r>
              <a:rPr lang="en-US" altLang="en-US" sz="1600" dirty="0" err="1"/>
              <a:t>MaxCDN</a:t>
            </a:r>
            <a:r>
              <a:rPr lang="en-US" altLang="en-US" sz="1600" dirty="0"/>
              <a:t> into your web page.</a:t>
            </a:r>
          </a:p>
          <a:p>
            <a:pPr marL="0" indent="0">
              <a:buNone/>
              <a:defRPr/>
            </a:pPr>
            <a:r>
              <a:rPr lang="en-US" altLang="en-US" sz="1600" dirty="0"/>
              <a:t>     Example</a:t>
            </a:r>
            <a:endParaRPr lang="en-US" altLang="en-US" sz="16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600" dirty="0"/>
              <a:t>	</a:t>
            </a:r>
            <a:r>
              <a:rPr lang="en-US" altLang="en-US" sz="1600" b="1" dirty="0"/>
              <a:t>&lt;!-- compiled and minified Bootstrap CSS --&gt;</a:t>
            </a:r>
            <a:br>
              <a:rPr lang="en-US" altLang="en-US" sz="1600" b="1" dirty="0"/>
            </a:br>
            <a:r>
              <a:rPr lang="en-US" altLang="en-US" sz="1600" b="1" dirty="0"/>
              <a:t>&lt;link </a:t>
            </a:r>
            <a:r>
              <a:rPr lang="en-US" altLang="en-US" sz="1600" b="1" dirty="0" err="1"/>
              <a:t>rel</a:t>
            </a:r>
            <a:r>
              <a:rPr lang="en-US" altLang="en-US" sz="1600" b="1" dirty="0"/>
              <a:t>="</a:t>
            </a:r>
            <a:r>
              <a:rPr lang="en-US" altLang="en-US" sz="1600" b="1" dirty="0" err="1"/>
              <a:t>stylesheet"href</a:t>
            </a:r>
            <a:r>
              <a:rPr lang="en-US" altLang="en-US" sz="1600" b="1" dirty="0"/>
              <a:t>="https://maxcdn.bootstrapcdn.com/bootstrap/3.3.7/</a:t>
            </a:r>
            <a:r>
              <a:rPr lang="en-US" altLang="en-US" sz="1600" b="1" dirty="0" err="1"/>
              <a:t>css</a:t>
            </a:r>
            <a:r>
              <a:rPr lang="en-US" altLang="en-US" sz="1600" b="1" dirty="0"/>
              <a:t>/bootstrap.min.css"&gt;</a:t>
            </a:r>
            <a:endParaRPr lang="en-US" altLang="en-US" sz="1600" b="1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600" dirty="0"/>
              <a:t>	</a:t>
            </a:r>
            <a:endParaRPr lang="en-US" altLang="en-US" sz="16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600" dirty="0"/>
              <a:t>	</a:t>
            </a:r>
            <a:r>
              <a:rPr lang="en-US" altLang="en-US" sz="1600" b="1" dirty="0"/>
              <a:t>&lt;!-- compiled Bootstrap JavaScript --&gt;</a:t>
            </a:r>
            <a:br>
              <a:rPr lang="en-US" altLang="en-US" sz="1600" b="1" dirty="0"/>
            </a:br>
            <a:r>
              <a:rPr lang="en-US" altLang="en-US" sz="1600" b="1" dirty="0"/>
              <a:t>&lt;script </a:t>
            </a:r>
            <a:r>
              <a:rPr lang="en-US" altLang="en-US" sz="1600" b="1" dirty="0" err="1"/>
              <a:t>src</a:t>
            </a:r>
            <a:r>
              <a:rPr lang="en-US" altLang="en-US" sz="1600" b="1" dirty="0"/>
              <a:t>="https://maxcdn.bootstrapcdn.com/bootstrap/3.3.7/</a:t>
            </a:r>
            <a:r>
              <a:rPr lang="en-US" altLang="en-US" sz="1600" b="1" dirty="0" err="1"/>
              <a:t>js</a:t>
            </a:r>
            <a:r>
              <a:rPr lang="en-US" altLang="en-US" sz="1600" b="1" dirty="0"/>
              <a:t>/bootstrap.min.js"&gt;&lt;/script&gt; </a:t>
            </a:r>
            <a:br>
              <a:rPr lang="en-US" altLang="en-US" sz="1600" b="1" dirty="0"/>
            </a:br>
            <a:endParaRPr lang="en-US" altLang="en-US" sz="1600" b="1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600" b="1" dirty="0"/>
              <a:t>	&lt;!-- jQuery library --&gt;</a:t>
            </a:r>
            <a:br>
              <a:rPr lang="en-US" altLang="en-US" sz="1600" b="1" dirty="0"/>
            </a:br>
            <a:r>
              <a:rPr lang="en-US" altLang="en-US" sz="1600" b="1" dirty="0"/>
              <a:t>&lt;script </a:t>
            </a:r>
            <a:r>
              <a:rPr lang="en-US" altLang="en-US" sz="1600" b="1" dirty="0" err="1"/>
              <a:t>src</a:t>
            </a:r>
            <a:r>
              <a:rPr lang="en-US" altLang="en-US" sz="1600" b="1" dirty="0"/>
              <a:t>="https://code.jquery.com/jquery-latest.js"&gt;&lt;/script&gt;</a:t>
            </a:r>
            <a:endParaRPr lang="en-US" altLang="en-US" sz="1600" b="1" dirty="0">
              <a:cs typeface="Calibri" panose="020F0502020204030204"/>
            </a:endParaRPr>
          </a:p>
          <a:p>
            <a:pPr algn="just">
              <a:defRPr/>
            </a:pPr>
            <a:r>
              <a:rPr lang="en-US" altLang="en-US" sz="1800" dirty="0"/>
              <a:t>Advantage of using the Bootstrap CDN:</a:t>
            </a:r>
            <a:endParaRPr lang="en-US" altLang="en-US" sz="1800" dirty="0">
              <a:cs typeface="Calibri" panose="020F0502020204030204"/>
            </a:endParaRPr>
          </a:p>
          <a:p>
            <a:pPr lvl="1" algn="just">
              <a:defRPr/>
            </a:pPr>
            <a:r>
              <a:rPr lang="en-US" altLang="en-US" sz="1800" dirty="0"/>
              <a:t>Many users already have downloaded Bootstrap from </a:t>
            </a:r>
            <a:r>
              <a:rPr lang="en-US" altLang="en-US" sz="1800" dirty="0" err="1"/>
              <a:t>MaxCDN</a:t>
            </a:r>
            <a:r>
              <a:rPr lang="en-US" altLang="en-US" sz="1800" dirty="0"/>
              <a:t> when visiting another site. As a result, it will be loaded from cache when they visit your site, which leads to faster loading time. Also, most CDN's will make sure that once a user requests a file from it, it will be served from the server closest to them, which also leads to faster loading time.</a:t>
            </a:r>
            <a:endParaRPr lang="en-US" altLang="en-US" sz="18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877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819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>
                <a:solidFill>
                  <a:srgbClr val="FFFFFF"/>
                </a:solidFill>
              </a:rPr>
              <a:t>Create Web Page with Bootstrap (1)</a:t>
            </a:r>
          </a:p>
        </p:txBody>
      </p:sp>
      <p:sp>
        <p:nvSpPr>
          <p:cNvPr id="8202" name="Rectangle 820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04" name="Rectangle 820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06" name="Rectangle 820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03833" y="3114687"/>
            <a:ext cx="10597729" cy="3283260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700" dirty="0"/>
              <a:t>Add the HTML5 </a:t>
            </a:r>
            <a:r>
              <a:rPr lang="en-US" altLang="en-US" sz="2700" dirty="0" err="1"/>
              <a:t>doctype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altLang="en-US" sz="2700" dirty="0"/>
              <a:t>Bootstrap uses HTML elements and CSS properties that require the HTML5 </a:t>
            </a:r>
            <a:r>
              <a:rPr lang="en-US" altLang="en-US" sz="2700" dirty="0" err="1"/>
              <a:t>doctype</a:t>
            </a:r>
            <a:r>
              <a:rPr lang="en-US" altLang="en-US" sz="2700" dirty="0"/>
              <a:t>.</a:t>
            </a:r>
            <a:endParaRPr lang="en-US" altLang="en-US" sz="2700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700" dirty="0"/>
              <a:t>Always include the HTML5 </a:t>
            </a:r>
            <a:r>
              <a:rPr lang="en-US" altLang="en-US" sz="2700" dirty="0" err="1"/>
              <a:t>doctype</a:t>
            </a:r>
            <a:r>
              <a:rPr lang="en-US" altLang="en-US" sz="2700" dirty="0"/>
              <a:t> at the beginning of the page, along with the </a:t>
            </a:r>
            <a:r>
              <a:rPr lang="en-US" altLang="en-US" sz="2700" dirty="0" err="1"/>
              <a:t>lang</a:t>
            </a:r>
            <a:r>
              <a:rPr lang="en-US" altLang="en-US" sz="2700" dirty="0"/>
              <a:t> attribute and the correct character set:</a:t>
            </a:r>
            <a:endParaRPr lang="en-US" altLang="en-US" sz="2700" dirty="0">
              <a:cs typeface="Calibri" panose="020F0502020204030204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7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altLang="en-US" sz="27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493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r>
              <a:rPr lang="en-US" altLang="en-US" sz="3800">
                <a:solidFill>
                  <a:srgbClr val="FFFFFF"/>
                </a:solidFill>
              </a:rPr>
              <a:t>Example 1 </a:t>
            </a:r>
          </a:p>
        </p:txBody>
      </p:sp>
      <p:sp>
        <p:nvSpPr>
          <p:cNvPr id="9225" name="Rectangle 92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27" name="Rectangle 92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162" y="456825"/>
            <a:ext cx="7698949" cy="5949581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&lt;!DOCTYPE html&gt;</a:t>
            </a:r>
            <a:endParaRPr lang="en-US" sz="36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&lt;html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lang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="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"&gt;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&lt;head&gt;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&lt;title&gt;Bootstrap Example&lt;/title&gt;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&lt;meta charset="utf-8"&gt;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&lt;meta name="viewport" content="width=device-width, initial-scale=1"&gt;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&lt;link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rel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="stylesheet"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href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="https://maxcdn.bootstrapcdn.com/bootstrap/3.3.7/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css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/bootstrap.min.css"&gt;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&lt;script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src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="https://maxcdn.bootstrapcdn.com/bootstrap/3.3.7/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js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/bootstrap.min.js"&gt;&lt;/script&gt;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&lt;script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src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="https://code.jquery.com/jquery-latest.js"&gt;&lt;/script&gt;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&lt;/head&gt;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&lt;body&gt;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&lt;div class="container"&gt;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&lt;h1&gt;My First Bootstrap Page&lt;/h1&gt;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&lt;p&gt;class .container is a fixed width container&lt;/p&gt; 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&lt;/div&gt;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&lt;/body&gt;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&lt;/html&gt;</a:t>
            </a:r>
            <a:endParaRPr lang="en-US" sz="1600" dirty="0">
              <a:solidFill>
                <a:srgbClr val="000000"/>
              </a:solidFill>
              <a:latin typeface="+mj-lt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9967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Rectangle 102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Create Web Page with Bootstrap (2)</a:t>
            </a:r>
          </a:p>
        </p:txBody>
      </p:sp>
      <p:sp>
        <p:nvSpPr>
          <p:cNvPr id="10250" name="Rectangle 102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52" name="Rectangle 102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120917" y="442448"/>
            <a:ext cx="7612684" cy="5963958"/>
          </a:xfrm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200" dirty="0"/>
              <a:t>Bootstrap is mobile-first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altLang="en-US" sz="2200" dirty="0"/>
              <a:t>Bootstrap is designed to be responsive to mobile devices. Mobile-first styles are part of the core framework.</a:t>
            </a:r>
            <a:endParaRPr lang="en-US" altLang="en-US" sz="2200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200" dirty="0"/>
              <a:t>To ensure proper rendering and touch zooming, add the following &lt;meta&gt; tag inside the &lt;head&gt; element:</a:t>
            </a:r>
            <a:endParaRPr lang="en-US" altLang="en-US" sz="2200" dirty="0">
              <a:cs typeface="Calibri" panose="020F0502020204030204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200" dirty="0">
              <a:cs typeface="Calibri" panose="020F0502020204030204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200" b="1" dirty="0"/>
              <a:t>&lt;meta name="viewport" content="width=device-width, initial-scale=1"&gt;</a:t>
            </a:r>
            <a:endParaRPr lang="en-US" altLang="en-US" sz="2200" b="1" dirty="0">
              <a:cs typeface="Calibri" panose="020F0502020204030204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200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200" dirty="0"/>
              <a:t>The </a:t>
            </a:r>
            <a:r>
              <a:rPr lang="en-US" altLang="en-US" sz="2200" b="1" dirty="0"/>
              <a:t>width=device-width</a:t>
            </a:r>
            <a:r>
              <a:rPr lang="en-US" altLang="en-US" sz="2200" dirty="0"/>
              <a:t> part sets the width of the page to follow the screen-width of the device (which will vary depending on the device).</a:t>
            </a:r>
            <a:endParaRPr lang="en-US" altLang="en-US" sz="2200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sz="2200" dirty="0"/>
              <a:t>The </a:t>
            </a:r>
            <a:r>
              <a:rPr lang="en-US" altLang="en-US" sz="2200" b="1" dirty="0"/>
              <a:t>initial-scale=1</a:t>
            </a:r>
            <a:r>
              <a:rPr lang="en-US" altLang="en-US" sz="2200" dirty="0"/>
              <a:t> part sets the initial zoom level when the page is first loaded by the browser.</a:t>
            </a:r>
            <a:endParaRPr lang="en-US" altLang="en-US" sz="22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465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Rectangle 1127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>
                <a:solidFill>
                  <a:srgbClr val="FFFFFF"/>
                </a:solidFill>
              </a:rPr>
              <a:t>Create Web Page with Bootstrap (3)</a:t>
            </a:r>
          </a:p>
        </p:txBody>
      </p:sp>
      <p:sp>
        <p:nvSpPr>
          <p:cNvPr id="11274" name="Rectangle 1127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6" name="Rectangle 1127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8" name="Rectangle 1127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/>
          </a:bodyPr>
          <a:lstStyle/>
          <a:p>
            <a:r>
              <a:rPr lang="en-US" altLang="en-US" sz="2500" dirty="0"/>
              <a:t>Containers</a:t>
            </a:r>
          </a:p>
          <a:p>
            <a:pPr lvl="1"/>
            <a:r>
              <a:rPr lang="en-US" altLang="en-US" sz="2500" dirty="0"/>
              <a:t>Bootstrap also requires a containing element to wrap site contents.</a:t>
            </a:r>
          </a:p>
          <a:p>
            <a:pPr lvl="1"/>
            <a:r>
              <a:rPr lang="en-US" altLang="en-US" sz="2500" dirty="0"/>
              <a:t>There are two container classes to choose from:</a:t>
            </a:r>
          </a:p>
          <a:p>
            <a:pPr lvl="2"/>
            <a:r>
              <a:rPr lang="en-US" altLang="en-US" sz="2500" dirty="0"/>
              <a:t>The .container class provides a responsive </a:t>
            </a:r>
            <a:r>
              <a:rPr lang="en-US" altLang="en-US" sz="2500" b="1" dirty="0"/>
              <a:t>fixed width container.</a:t>
            </a:r>
            <a:endParaRPr lang="en-US" altLang="en-US" sz="2500" dirty="0"/>
          </a:p>
          <a:p>
            <a:pPr lvl="2"/>
            <a:r>
              <a:rPr lang="en-US" altLang="en-US" sz="2500" dirty="0"/>
              <a:t>The .container-fluid class provides a </a:t>
            </a:r>
            <a:r>
              <a:rPr lang="en-US" altLang="en-US" sz="2500" b="1" dirty="0"/>
              <a:t>full width container</a:t>
            </a:r>
            <a:r>
              <a:rPr lang="en-US" altLang="en-US" sz="2500" dirty="0"/>
              <a:t>, spanning the entire width of the viewport.</a:t>
            </a:r>
          </a:p>
          <a:p>
            <a:r>
              <a:rPr lang="en-US" altLang="en-US" sz="2500" b="1" dirty="0"/>
              <a:t>Note:</a:t>
            </a:r>
            <a:r>
              <a:rPr lang="en-US" altLang="en-US" sz="2500" dirty="0"/>
              <a:t> Containers are not nestable</a:t>
            </a:r>
            <a:br>
              <a:rPr lang="en-US" altLang="en-US" sz="2500" dirty="0"/>
            </a:br>
            <a:endParaRPr lang="en-US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77245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Rectangle 1229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12298" name="Rectangle 1229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00" name="Rectangle 1229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379709" y="686863"/>
            <a:ext cx="7037591" cy="3282236"/>
          </a:xfrm>
        </p:spPr>
        <p:txBody>
          <a:bodyPr anchor="ctr"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&lt;body&gt;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&lt;div class="container-fluid"&gt;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  &lt;h1&gt;My First Bootstrap Page&lt;/h1&gt;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  &lt;p&gt;class .container-fluid is a full width container, spanning the entire width of the viewport&lt;/p&gt;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&lt;/div&gt;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&lt;/body&gt;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327" y="4419226"/>
            <a:ext cx="6990973" cy="174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1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133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Responsive Containers</a:t>
            </a:r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46" y="2414971"/>
            <a:ext cx="11953334" cy="342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659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143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Bootstrap Grids</a:t>
            </a:r>
          </a:p>
        </p:txBody>
      </p:sp>
      <p:sp>
        <p:nvSpPr>
          <p:cNvPr id="14346" name="Rectangle 143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8" name="Rectangle 143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178426" y="442448"/>
            <a:ext cx="7454534" cy="5892071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200" dirty="0"/>
              <a:t>Bootstrap’s grid system allows up to </a:t>
            </a:r>
            <a:r>
              <a:rPr lang="en-US" altLang="en-US" sz="2200" b="1" dirty="0"/>
              <a:t>12 columns </a:t>
            </a:r>
            <a:r>
              <a:rPr lang="en-US" altLang="en-US" sz="2200" dirty="0"/>
              <a:t>across the page.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altLang="en-US" sz="2200" dirty="0"/>
              <a:t>If you do not want to use all 12 columns individually, you can group the columns together to create wider columns:</a:t>
            </a:r>
            <a:endParaRPr lang="en-US" altLang="en-US" sz="2200" dirty="0"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200" b="1" dirty="0"/>
              <a:t>&lt;div class="col-md-12"&gt;Span 12 columns&lt;/div&gt;</a:t>
            </a:r>
            <a:endParaRPr lang="en-US" altLang="en-US" sz="2200" b="1" dirty="0"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200" b="1" dirty="0"/>
              <a:t>&lt;div class="col-md-6"&gt;Span 6&lt;/div&gt;&lt;div class="col-md-6"&gt;Span 6&lt;/div&gt;</a:t>
            </a:r>
            <a:endParaRPr lang="en-US" altLang="en-US" sz="2200" b="1" dirty="0"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200" b="1" dirty="0"/>
              <a:t>&lt;div class="col-md-4"&gt;Span 4&lt;/div&gt;&lt;div class="col-md-8"&gt;Span 8&lt;/div&gt;</a:t>
            </a:r>
            <a:endParaRPr lang="en-US" altLang="en-US" sz="2200" b="1" dirty="0"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200" b="1" dirty="0"/>
              <a:t>&lt;div class="col-md-4"&gt;Span 4&lt;/div&gt;&lt;div class="col-md-4"&gt;Span 4&lt;/div&gt; &lt;div class="col-md-4"&gt;Span 4&lt;/div&gt;</a:t>
            </a:r>
            <a:endParaRPr lang="en-US" altLang="en-US" sz="2200" b="1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Bootstrap's grid system is responsive, and the columns will re-arrange automatically depending on the screen size.</a:t>
            </a:r>
            <a:endParaRPr lang="en-US" altLang="en-US" sz="2200" b="1" dirty="0">
              <a:solidFill>
                <a:schemeClr val="accent1">
                  <a:lumMod val="75000"/>
                </a:schemeClr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2713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153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FFFF"/>
                </a:solidFill>
              </a:rPr>
              <a:t>Bootstrap Grids</a:t>
            </a:r>
          </a:p>
        </p:txBody>
      </p:sp>
      <p:sp>
        <p:nvSpPr>
          <p:cNvPr id="15370" name="Rectangle 1536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72" name="Rectangle 1537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74" name="Rectangle 1537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3" y="3061391"/>
            <a:ext cx="11259843" cy="275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36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153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>
                <a:solidFill>
                  <a:srgbClr val="FFFFFF"/>
                </a:solidFill>
              </a:rPr>
              <a:t>Grid Classes</a:t>
            </a:r>
          </a:p>
        </p:txBody>
      </p:sp>
      <p:sp>
        <p:nvSpPr>
          <p:cNvPr id="15370" name="Rectangle 1536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72" name="Rectangle 1537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74" name="Rectangle 1537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573796" y="2798386"/>
            <a:ext cx="11043427" cy="3829598"/>
          </a:xfrm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The Bootstrap grid system has four classes:</a:t>
            </a:r>
            <a:endParaRPr lang="en-US" sz="2400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 err="1"/>
              <a:t>xs</a:t>
            </a:r>
            <a:r>
              <a:rPr lang="en-US" altLang="en-US" dirty="0"/>
              <a:t> (for phones)</a:t>
            </a:r>
            <a:endParaRPr lang="en-US" altLang="en-US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 err="1"/>
              <a:t>sm</a:t>
            </a:r>
            <a:r>
              <a:rPr lang="en-US" altLang="en-US" dirty="0"/>
              <a:t> (for tablets)</a:t>
            </a:r>
            <a:endParaRPr lang="en-US" altLang="en-US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/>
              <a:t>md (for desktops)</a:t>
            </a:r>
            <a:endParaRPr lang="en-US" altLang="en-US" dirty="0"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/>
              <a:t>lg (for larger desktops)</a:t>
            </a:r>
            <a:endParaRPr lang="en-US" altLang="en-US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/>
              <a:t>The classes above can be combined to create more dynamic and flexible layouts.</a:t>
            </a:r>
            <a:endParaRPr lang="en-US" altLang="en-US" sz="2400" dirty="0"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br>
              <a:rPr lang="en-US" altLang="en-US" sz="2400" dirty="0"/>
            </a:br>
            <a:endParaRPr lang="en-US" altLang="en-US" sz="24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47504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2" name="Rectangle 1639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Basic Structure of a Bootstrap Grid</a:t>
            </a:r>
          </a:p>
        </p:txBody>
      </p:sp>
      <p:sp>
        <p:nvSpPr>
          <p:cNvPr id="16394" name="Rectangle 163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6" name="Rectangle 1639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719544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2400" dirty="0"/>
              <a:t>	&lt;div class="row"&gt;</a:t>
            </a:r>
            <a:br>
              <a:rPr lang="en-US" altLang="en-US" sz="2400" dirty="0"/>
            </a:br>
            <a:r>
              <a:rPr lang="en-US" altLang="en-US" sz="2400" dirty="0"/>
              <a:t>  &lt;div class="col-*-*"&gt;&lt;/div&gt;</a:t>
            </a:r>
            <a:br>
              <a:rPr lang="en-US" altLang="en-US" sz="2400" dirty="0"/>
            </a:br>
            <a:r>
              <a:rPr lang="en-US" altLang="en-US" sz="2400" dirty="0"/>
              <a:t>&lt;/div&gt;</a:t>
            </a:r>
            <a:br>
              <a:rPr lang="en-US" altLang="en-US" sz="2400" dirty="0"/>
            </a:br>
            <a:r>
              <a:rPr lang="en-US" altLang="en-US" sz="2400" dirty="0"/>
              <a:t>&lt;div class="row"&gt;</a:t>
            </a:r>
            <a:br>
              <a:rPr lang="en-US" altLang="en-US" sz="2400" dirty="0"/>
            </a:br>
            <a:r>
              <a:rPr lang="en-US" altLang="en-US" sz="2400" dirty="0"/>
              <a:t>  &lt;div class="col-*-*"&gt;&lt;/div&gt;</a:t>
            </a:r>
            <a:br>
              <a:rPr lang="en-US" altLang="en-US" sz="2400" dirty="0"/>
            </a:br>
            <a:r>
              <a:rPr lang="en-US" altLang="en-US" sz="2400" dirty="0"/>
              <a:t>  &lt;div class="col-*-*"&gt;&lt;/div&gt;</a:t>
            </a:r>
            <a:br>
              <a:rPr lang="en-US" altLang="en-US" sz="2400" dirty="0"/>
            </a:br>
            <a:r>
              <a:rPr lang="en-US" altLang="en-US" sz="2400" dirty="0"/>
              <a:t>  &lt;div class="col-*-*"&gt;&lt;/div&gt;</a:t>
            </a:r>
            <a:br>
              <a:rPr lang="en-US" altLang="en-US" sz="2400" dirty="0"/>
            </a:br>
            <a:r>
              <a:rPr lang="en-US" altLang="en-US" sz="2400" dirty="0"/>
              <a:t>&lt;/div&gt;</a:t>
            </a:r>
            <a:br>
              <a:rPr lang="en-US" altLang="en-US" sz="2400" dirty="0"/>
            </a:br>
            <a:r>
              <a:rPr lang="en-US" altLang="en-US" sz="2400" dirty="0"/>
              <a:t>&lt;div class="row"&gt;</a:t>
            </a:r>
            <a:br>
              <a:rPr lang="en-US" altLang="en-US" sz="2400" dirty="0"/>
            </a:br>
            <a:r>
              <a:rPr lang="en-US" altLang="en-US" sz="2400" dirty="0"/>
              <a:t>  ...</a:t>
            </a:r>
            <a:br>
              <a:rPr lang="en-US" altLang="en-US" sz="2400" dirty="0"/>
            </a:br>
            <a:r>
              <a:rPr lang="en-US" altLang="en-US" sz="2400" dirty="0"/>
              <a:t>&lt;/div&gt;</a:t>
            </a:r>
          </a:p>
          <a:p>
            <a:r>
              <a:rPr lang="en-US" altLang="en-US" sz="2400" dirty="0"/>
              <a:t>First; create a row (&lt;div class="row"&gt;). Then, add the desired number of columns (tags with appropriate .col-*-*classes). Note that numbers in .col-*-* should always add up to 12 for each row.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4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723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174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Example 2</a:t>
            </a:r>
          </a:p>
        </p:txBody>
      </p:sp>
      <p:sp>
        <p:nvSpPr>
          <p:cNvPr id="17418" name="Rectangle 174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20" name="Rectangle 174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anchor="ctr"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&lt;body&gt;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&lt;div class="container"&gt;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  &lt;h1&gt;Three Equal Columns&lt;/h1&gt;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  &lt;p&gt;Desktops version: .col-md-4&lt;/p&gt;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  &lt;div class="row"&gt;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	&lt;div class="col-md-4"&gt;.col-md-4&lt;/div&gt;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	&lt;div class="col-md-4"&gt;.col-md-4&lt;/div&gt;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	&lt;div class="col-md-4"&gt;.col-md-4&lt;/div&gt;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  &lt;/div&gt;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&lt;/div&gt;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600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1777829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1" name="Rectangle 184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Bootstrap Tables</a:t>
            </a:r>
          </a:p>
        </p:txBody>
      </p:sp>
      <p:sp>
        <p:nvSpPr>
          <p:cNvPr id="18452" name="Rectangle 184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53" name="Rectangle 184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120917" y="514334"/>
            <a:ext cx="7612684" cy="5820185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altLang="en-US" sz="2400" dirty="0"/>
              <a:t>A </a:t>
            </a:r>
            <a:r>
              <a:rPr lang="en-US" altLang="en-US" sz="2400" b="1" dirty="0"/>
              <a:t>basic</a:t>
            </a:r>
            <a:r>
              <a:rPr lang="en-US" altLang="en-US" sz="2400" dirty="0"/>
              <a:t> Bootstrap table has a light padding and only horizontal dividers.</a:t>
            </a:r>
            <a:endParaRPr lang="en-US" altLang="en-US" sz="2400" dirty="0">
              <a:cs typeface="Calibri" panose="020F0502020204030204"/>
            </a:endParaRPr>
          </a:p>
          <a:p>
            <a:pPr lvl="1" algn="just"/>
            <a:r>
              <a:rPr lang="en-US" altLang="en-US" dirty="0"/>
              <a:t>The .table class adds basic styling to a table:</a:t>
            </a:r>
            <a:endParaRPr lang="en-US" altLang="en-US" dirty="0">
              <a:cs typeface="Calibri" panose="020F0502020204030204"/>
            </a:endParaRPr>
          </a:p>
          <a:p>
            <a:pPr algn="just"/>
            <a:r>
              <a:rPr lang="en-US" altLang="en-US" sz="2400" b="1" dirty="0"/>
              <a:t>Striped Rows</a:t>
            </a:r>
            <a:endParaRPr lang="en-US" altLang="en-US" sz="2400" b="1" dirty="0">
              <a:cs typeface="Calibri" panose="020F0502020204030204"/>
            </a:endParaRPr>
          </a:p>
          <a:p>
            <a:pPr lvl="1" algn="just"/>
            <a:r>
              <a:rPr lang="en-US" altLang="en-US" dirty="0"/>
              <a:t>The .table-striped class adds zebra-stripes to a table:</a:t>
            </a:r>
            <a:endParaRPr lang="en-US" altLang="en-US" dirty="0">
              <a:cs typeface="Calibri" panose="020F0502020204030204"/>
            </a:endParaRPr>
          </a:p>
          <a:p>
            <a:pPr algn="just"/>
            <a:r>
              <a:rPr lang="en-US" altLang="en-US" sz="2400" b="1" dirty="0"/>
              <a:t>Bordered Table</a:t>
            </a:r>
            <a:endParaRPr lang="en-US" altLang="en-US" sz="2400" b="1" dirty="0">
              <a:cs typeface="Calibri" panose="020F0502020204030204"/>
            </a:endParaRPr>
          </a:p>
          <a:p>
            <a:pPr lvl="1" algn="just"/>
            <a:r>
              <a:rPr lang="en-US" altLang="en-US" dirty="0"/>
              <a:t>The .table-bordered class adds borders on all sides of the table and cells:</a:t>
            </a:r>
            <a:endParaRPr lang="en-US" altLang="en-US" dirty="0">
              <a:cs typeface="Calibri" panose="020F0502020204030204"/>
            </a:endParaRPr>
          </a:p>
          <a:p>
            <a:pPr algn="just"/>
            <a:r>
              <a:rPr lang="en-US" altLang="en-US" sz="2400" b="1" dirty="0"/>
              <a:t>Hover Rows</a:t>
            </a:r>
            <a:endParaRPr lang="en-US" altLang="en-US" sz="2400" b="1" dirty="0">
              <a:cs typeface="Calibri" panose="020F0502020204030204"/>
            </a:endParaRPr>
          </a:p>
          <a:p>
            <a:pPr lvl="1" algn="just"/>
            <a:r>
              <a:rPr lang="en-US" altLang="en-US" dirty="0"/>
              <a:t>The .table-hover class enables a hover state on table rows:</a:t>
            </a:r>
            <a:endParaRPr lang="en-US" altLang="en-US" dirty="0">
              <a:cs typeface="Calibri" panose="020F0502020204030204"/>
            </a:endParaRPr>
          </a:p>
          <a:p>
            <a:pPr algn="just"/>
            <a:r>
              <a:rPr lang="en-US" altLang="en-US" sz="2400" b="1" dirty="0"/>
              <a:t>Responsive Tables</a:t>
            </a:r>
            <a:endParaRPr lang="en-US" altLang="en-US" sz="2400" b="1" dirty="0">
              <a:cs typeface="Calibri" panose="020F0502020204030204"/>
            </a:endParaRPr>
          </a:p>
          <a:p>
            <a:pPr lvl="1" algn="just"/>
            <a:r>
              <a:rPr lang="en-US" altLang="en-US" dirty="0"/>
              <a:t>The .table-responsive class creates a responsive table. The table will then scroll horizontally on small devices (under 768px). When viewing on anything larger than 768px wide, there is no difference:</a:t>
            </a:r>
          </a:p>
        </p:txBody>
      </p:sp>
    </p:spTree>
    <p:extLst>
      <p:ext uri="{BB962C8B-B14F-4D97-AF65-F5344CB8AC3E}">
        <p14:creationId xmlns:p14="http://schemas.microsoft.com/office/powerpoint/2010/main" val="4255020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194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800">
                <a:solidFill>
                  <a:srgbClr val="FFFFFF"/>
                </a:solidFill>
              </a:rPr>
              <a:t>Bootstrap Images</a:t>
            </a:r>
          </a:p>
        </p:txBody>
      </p:sp>
      <p:sp>
        <p:nvSpPr>
          <p:cNvPr id="19466" name="Rectangle 194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68" name="Rectangle 194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049030" y="466657"/>
            <a:ext cx="7698948" cy="5892071"/>
          </a:xfrm>
        </p:spPr>
        <p:txBody>
          <a:bodyPr anchor="ctr">
            <a:normAutofit/>
          </a:bodyPr>
          <a:lstStyle/>
          <a:p>
            <a:pPr algn="just"/>
            <a:r>
              <a:rPr lang="en-US" altLang="en-US" sz="2000" b="1" dirty="0"/>
              <a:t>Rounded Corners</a:t>
            </a:r>
          </a:p>
          <a:p>
            <a:pPr lvl="1" algn="just"/>
            <a:r>
              <a:rPr lang="en-US" altLang="en-US" sz="2000" dirty="0"/>
              <a:t>The .</a:t>
            </a:r>
            <a:r>
              <a:rPr lang="en-US" altLang="en-US" sz="2000" dirty="0" err="1"/>
              <a:t>img</a:t>
            </a:r>
            <a:r>
              <a:rPr lang="en-US" altLang="en-US" sz="2000" dirty="0"/>
              <a:t>-rounded class adds rounded corners to an image (IE8 does not support rounded corners):</a:t>
            </a:r>
            <a:endParaRPr lang="en-US" altLang="en-US" sz="2000" dirty="0">
              <a:cs typeface="Calibri" panose="020F0502020204030204"/>
            </a:endParaRPr>
          </a:p>
          <a:p>
            <a:pPr algn="just"/>
            <a:r>
              <a:rPr lang="en-US" altLang="en-US" sz="2000" b="1" dirty="0"/>
              <a:t>Circle</a:t>
            </a:r>
            <a:endParaRPr lang="en-US" altLang="en-US" sz="2000" b="1" dirty="0">
              <a:cs typeface="Calibri" panose="020F0502020204030204"/>
            </a:endParaRPr>
          </a:p>
          <a:p>
            <a:pPr lvl="1" algn="just"/>
            <a:r>
              <a:rPr lang="en-US" altLang="en-US" sz="2000" dirty="0"/>
              <a:t>The .</a:t>
            </a:r>
            <a:r>
              <a:rPr lang="en-US" altLang="en-US" sz="2000" dirty="0" err="1"/>
              <a:t>img</a:t>
            </a:r>
            <a:r>
              <a:rPr lang="en-US" altLang="en-US" sz="2000" dirty="0"/>
              <a:t>-circle class shapes the image to a circle (IE8 does not support rounded corners):</a:t>
            </a:r>
            <a:endParaRPr lang="en-US" altLang="en-US" sz="2000" dirty="0">
              <a:cs typeface="Calibri" panose="020F0502020204030204"/>
            </a:endParaRPr>
          </a:p>
          <a:p>
            <a:pPr algn="just"/>
            <a:r>
              <a:rPr lang="en-US" altLang="en-US" sz="2000" b="1" dirty="0"/>
              <a:t>Thumbnail</a:t>
            </a:r>
            <a:endParaRPr lang="en-US" altLang="en-US" sz="2000" b="1" dirty="0">
              <a:cs typeface="Calibri" panose="020F0502020204030204"/>
            </a:endParaRPr>
          </a:p>
          <a:p>
            <a:pPr lvl="1" algn="just"/>
            <a:r>
              <a:rPr lang="en-US" altLang="en-US" sz="2000" dirty="0"/>
              <a:t>The .</a:t>
            </a:r>
            <a:r>
              <a:rPr lang="en-US" altLang="en-US" sz="2000" dirty="0" err="1"/>
              <a:t>img</a:t>
            </a:r>
            <a:r>
              <a:rPr lang="en-US" altLang="en-US" sz="2000" dirty="0"/>
              <a:t>-thumbnail class shapes the image to a thumbnail:</a:t>
            </a:r>
            <a:endParaRPr lang="en-US" altLang="en-US" sz="2000" dirty="0">
              <a:cs typeface="Calibri" panose="020F0502020204030204"/>
            </a:endParaRPr>
          </a:p>
          <a:p>
            <a:pPr algn="just"/>
            <a:r>
              <a:rPr lang="en-US" altLang="en-US" sz="2000" b="1" dirty="0"/>
              <a:t>Responsive Images</a:t>
            </a:r>
            <a:endParaRPr lang="en-US" altLang="en-US" sz="2000" dirty="0">
              <a:cs typeface="Calibri" panose="020F0502020204030204"/>
            </a:endParaRPr>
          </a:p>
          <a:p>
            <a:pPr lvl="1" algn="just"/>
            <a:r>
              <a:rPr lang="en-US" altLang="en-US" sz="2000" dirty="0"/>
              <a:t>Images comes in all sizes. So do screens. Responsive images automatically adjust to fit the size of the screen.</a:t>
            </a:r>
            <a:endParaRPr lang="en-US" altLang="en-US" sz="2000" dirty="0">
              <a:cs typeface="Calibri" panose="020F0502020204030204"/>
            </a:endParaRPr>
          </a:p>
          <a:p>
            <a:pPr lvl="1" algn="just"/>
            <a:r>
              <a:rPr lang="en-US" altLang="en-US" sz="2000" dirty="0"/>
              <a:t>Create responsive images by adding an .</a:t>
            </a:r>
            <a:r>
              <a:rPr lang="en-US" altLang="en-US" sz="2000" dirty="0" err="1"/>
              <a:t>img</a:t>
            </a:r>
            <a:r>
              <a:rPr lang="en-US" altLang="en-US" sz="2000" dirty="0"/>
              <a:t>-responsive class to the &lt;</a:t>
            </a:r>
            <a:r>
              <a:rPr lang="en-US" altLang="en-US" sz="2000" dirty="0" err="1"/>
              <a:t>img</a:t>
            </a:r>
            <a:r>
              <a:rPr lang="en-US" altLang="en-US" sz="2000" dirty="0"/>
              <a:t>&gt; tag. The image will then scale nicely to the parent element.</a:t>
            </a:r>
            <a:endParaRPr lang="en-US" altLang="en-US" sz="2000" dirty="0">
              <a:cs typeface="Calibri" panose="020F0502020204030204"/>
            </a:endParaRPr>
          </a:p>
          <a:p>
            <a:pPr lvl="1" algn="just"/>
            <a:r>
              <a:rPr lang="en-US" altLang="en-US" sz="2000" dirty="0"/>
              <a:t>The </a:t>
            </a:r>
            <a:r>
              <a:rPr lang="en-US" altLang="en-US" sz="2000" dirty="0">
                <a:highlight>
                  <a:srgbClr val="FFFF00"/>
                </a:highlight>
              </a:rPr>
              <a:t>.</a:t>
            </a:r>
            <a:r>
              <a:rPr lang="en-US" altLang="en-US" sz="2000" dirty="0" err="1">
                <a:highlight>
                  <a:srgbClr val="FFFF00"/>
                </a:highlight>
              </a:rPr>
              <a:t>img</a:t>
            </a:r>
            <a:r>
              <a:rPr lang="en-US" altLang="en-US" sz="2000" dirty="0">
                <a:highlight>
                  <a:srgbClr val="FFFF00"/>
                </a:highlight>
              </a:rPr>
              <a:t>-responsive </a:t>
            </a:r>
            <a:r>
              <a:rPr lang="en-US" altLang="en-US" sz="2000" dirty="0"/>
              <a:t>class applies display: block; and max-width: 100%; and height: auto; to the image:</a:t>
            </a:r>
            <a:endParaRPr lang="en-US" alt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37765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Rectangle 2048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Bootstrap Buttons</a:t>
            </a:r>
          </a:p>
        </p:txBody>
      </p:sp>
      <p:sp>
        <p:nvSpPr>
          <p:cNvPr id="20490" name="Rectangle 2048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92" name="Rectangle 2049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94" name="Rectangle 204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8778" y="2553970"/>
            <a:ext cx="11273463" cy="3757712"/>
          </a:xfrm>
        </p:spPr>
        <p:txBody>
          <a:bodyPr anchor="ctr">
            <a:normAutofit/>
          </a:bodyPr>
          <a:lstStyle/>
          <a:p>
            <a:r>
              <a:rPr lang="en-US" altLang="en-US" sz="1800" b="1" dirty="0"/>
              <a:t>Button Styles</a:t>
            </a:r>
          </a:p>
          <a:p>
            <a:pPr lvl="1"/>
            <a:r>
              <a:rPr lang="en-US" altLang="en-US" sz="1800" dirty="0"/>
              <a:t>Bootstrap provides seven styles of buttons with the following classes: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-default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-primary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-success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-info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-warning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-danger</a:t>
            </a:r>
            <a:endParaRPr lang="en-US" altLang="en-US" sz="1800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/>
              <a:t>	.</a:t>
            </a:r>
            <a:r>
              <a:rPr lang="en-US" altLang="en-US" sz="1800" dirty="0" err="1"/>
              <a:t>btn</a:t>
            </a:r>
            <a:r>
              <a:rPr lang="en-US" altLang="en-US" sz="1800" dirty="0"/>
              <a:t>-link</a:t>
            </a:r>
            <a:endParaRPr lang="en-US" altLang="en-US" sz="1800" dirty="0">
              <a:cs typeface="Calibri" panose="020F0502020204030204"/>
            </a:endParaRPr>
          </a:p>
          <a:p>
            <a:pPr lvl="1"/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144755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Rectangle 2048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Bootstrap Buttons</a:t>
            </a:r>
          </a:p>
        </p:txBody>
      </p:sp>
      <p:sp>
        <p:nvSpPr>
          <p:cNvPr id="20490" name="Rectangle 2048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92" name="Rectangle 2049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94" name="Rectangle 204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392229" y="2480954"/>
            <a:ext cx="9114990" cy="391812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"&gt;Basic&lt;/button&gt;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-default"&gt;Default&lt;/button&gt;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-primary"&gt;Primary&lt;/button&gt;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-success"&gt;Success&lt;/button&gt;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-info"&gt;Info&lt;/button&gt;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-warning"&gt;Warning&lt;/button&gt;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-danger"&gt;Danger&lt;/button&gt;</a:t>
            </a:r>
            <a:br>
              <a:rPr lang="en-US" sz="2000" dirty="0"/>
            </a:br>
            <a:r>
              <a:rPr lang="en-US" sz="2000" dirty="0"/>
              <a:t>&lt;button type="button" class="</a:t>
            </a:r>
            <a:r>
              <a:rPr lang="en-US" sz="2000" dirty="0" err="1"/>
              <a:t>btn</a:t>
            </a:r>
            <a:r>
              <a:rPr lang="en-US" sz="2000" dirty="0"/>
              <a:t> </a:t>
            </a:r>
            <a:r>
              <a:rPr lang="en-US" sz="2000" dirty="0" err="1"/>
              <a:t>btn</a:t>
            </a:r>
            <a:r>
              <a:rPr lang="en-US" sz="2000" dirty="0"/>
              <a:t>-link"&gt;Link&lt;/button&gt;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57529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Rectangle 215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FFFF"/>
                </a:solidFill>
              </a:rPr>
              <a:t>Bootstrap Button Elements</a:t>
            </a:r>
          </a:p>
        </p:txBody>
      </p:sp>
      <p:sp>
        <p:nvSpPr>
          <p:cNvPr id="21514" name="Rectangle 215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16" name="Rectangle 215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18" name="Rectangle 215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en-US" sz="2700" dirty="0"/>
              <a:t>The button classes can be used on the following elements:</a:t>
            </a:r>
            <a:endParaRPr lang="en-US" dirty="0"/>
          </a:p>
          <a:p>
            <a:pPr lvl="1"/>
            <a:r>
              <a:rPr lang="en-US" altLang="en-US" sz="2700" dirty="0"/>
              <a:t> &lt;a&gt; </a:t>
            </a:r>
            <a:endParaRPr lang="en-US" altLang="en-US" sz="2700" dirty="0">
              <a:cs typeface="Calibri" panose="020F0502020204030204"/>
            </a:endParaRPr>
          </a:p>
          <a:p>
            <a:pPr lvl="1"/>
            <a:r>
              <a:rPr lang="en-US" altLang="en-US" sz="2700" dirty="0"/>
              <a:t>&lt;button&gt;</a:t>
            </a:r>
            <a:endParaRPr lang="en-US" altLang="en-US" sz="2700" dirty="0">
              <a:cs typeface="Calibri" panose="020F0502020204030204"/>
            </a:endParaRPr>
          </a:p>
          <a:p>
            <a:pPr lvl="1"/>
            <a:r>
              <a:rPr lang="en-US" altLang="en-US" sz="2700" dirty="0"/>
              <a:t>&lt;input&gt;</a:t>
            </a:r>
            <a:endParaRPr lang="en-US" altLang="en-US" sz="27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53408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194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solidFill>
                  <a:srgbClr val="FFFFFF"/>
                </a:solidFill>
              </a:rPr>
              <a:t>Bootstrap Button Elements</a:t>
            </a:r>
            <a:endParaRPr lang="en-US" altLang="en-US" sz="3800" dirty="0">
              <a:solidFill>
                <a:srgbClr val="FFFFFF"/>
              </a:solidFill>
            </a:endParaRPr>
          </a:p>
        </p:txBody>
      </p:sp>
      <p:sp>
        <p:nvSpPr>
          <p:cNvPr id="19466" name="Rectangle 194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68" name="Rectangle 194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049030" y="456825"/>
            <a:ext cx="7698948" cy="5892071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en-US" sz="2000" dirty="0"/>
              <a:t>&lt;!DOCTYPE html&gt;</a:t>
            </a:r>
          </a:p>
          <a:p>
            <a:pPr marL="0" indent="0">
              <a:buNone/>
            </a:pPr>
            <a:r>
              <a:rPr lang="en-US" altLang="en-US" sz="2000" dirty="0"/>
              <a:t>&lt;html </a:t>
            </a:r>
            <a:r>
              <a:rPr lang="en-US" altLang="en-US" sz="2000" dirty="0" err="1"/>
              <a:t>lang</a:t>
            </a:r>
            <a:r>
              <a:rPr lang="en-US" altLang="en-US" sz="2000" dirty="0"/>
              <a:t>="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"&gt;</a:t>
            </a:r>
          </a:p>
          <a:p>
            <a:pPr marL="0" indent="0">
              <a:buNone/>
            </a:pPr>
            <a:r>
              <a:rPr lang="en-US" altLang="en-US" sz="2000" dirty="0"/>
              <a:t>&lt;head&gt;</a:t>
            </a:r>
          </a:p>
          <a:p>
            <a:pPr marL="0" indent="0">
              <a:buNone/>
            </a:pPr>
            <a:r>
              <a:rPr lang="en-US" altLang="en-US" sz="2000" dirty="0"/>
              <a:t>  &lt;title&gt;Bootstrap Example&lt;/title&gt;</a:t>
            </a:r>
          </a:p>
          <a:p>
            <a:pPr marL="0" indent="0">
              <a:buNone/>
            </a:pPr>
            <a:r>
              <a:rPr lang="en-US" altLang="en-US" sz="2000" dirty="0"/>
              <a:t>  &lt;meta charset="utf-8"&gt;</a:t>
            </a:r>
          </a:p>
          <a:p>
            <a:pPr marL="0" indent="0">
              <a:buNone/>
            </a:pPr>
            <a:r>
              <a:rPr lang="en-US" altLang="en-US" sz="2000" dirty="0"/>
              <a:t>  &lt;meta name="viewport" content="width=device-width, initial-scale=1"&gt;</a:t>
            </a:r>
          </a:p>
          <a:p>
            <a:pPr marL="0" indent="0">
              <a:buNone/>
            </a:pPr>
            <a:r>
              <a:rPr lang="en-US" altLang="en-US" sz="2000" dirty="0"/>
              <a:t>  &lt;link </a:t>
            </a:r>
            <a:r>
              <a:rPr lang="en-US" altLang="en-US" sz="2000" dirty="0" err="1"/>
              <a:t>rel</a:t>
            </a:r>
            <a:r>
              <a:rPr lang="en-US" altLang="en-US" sz="2000" dirty="0"/>
              <a:t>="stylesheet" </a:t>
            </a:r>
            <a:r>
              <a:rPr lang="en-US" altLang="en-US" sz="2000" dirty="0" err="1"/>
              <a:t>href</a:t>
            </a:r>
            <a:r>
              <a:rPr lang="en-US" altLang="en-US" sz="2000" dirty="0"/>
              <a:t>="https://maxcdn.bootstrapcdn.com/bootstrap/3.4.1/</a:t>
            </a:r>
            <a:r>
              <a:rPr lang="en-US" altLang="en-US" sz="2000" dirty="0" err="1"/>
              <a:t>css</a:t>
            </a:r>
            <a:r>
              <a:rPr lang="en-US" altLang="en-US" sz="2000" dirty="0"/>
              <a:t>/bootstrap.min.css"&gt;</a:t>
            </a:r>
          </a:p>
          <a:p>
            <a:pPr marL="0" indent="0">
              <a:buNone/>
            </a:pPr>
            <a:r>
              <a:rPr lang="en-US" altLang="en-US" sz="2000" dirty="0"/>
              <a:t>  &lt;script </a:t>
            </a:r>
            <a:r>
              <a:rPr lang="en-US" altLang="en-US" sz="2000" dirty="0" err="1"/>
              <a:t>src</a:t>
            </a:r>
            <a:r>
              <a:rPr lang="en-US" altLang="en-US" sz="2000" dirty="0"/>
              <a:t>="https://ajax.googleapis.com/ajax/libs/</a:t>
            </a:r>
            <a:r>
              <a:rPr lang="en-US" altLang="en-US" sz="2000" dirty="0" err="1"/>
              <a:t>jquery</a:t>
            </a:r>
            <a:r>
              <a:rPr lang="en-US" altLang="en-US" sz="2000" dirty="0"/>
              <a:t>/3.6.1/jquery.min.js"&gt;&lt;/script&gt;</a:t>
            </a:r>
          </a:p>
          <a:p>
            <a:pPr marL="0" indent="0">
              <a:buNone/>
            </a:pPr>
            <a:r>
              <a:rPr lang="en-US" altLang="en-US" sz="2000" dirty="0"/>
              <a:t>  &lt;script </a:t>
            </a:r>
            <a:r>
              <a:rPr lang="en-US" altLang="en-US" sz="2000" dirty="0" err="1"/>
              <a:t>src</a:t>
            </a:r>
            <a:r>
              <a:rPr lang="en-US" altLang="en-US" sz="2000" dirty="0"/>
              <a:t>="https://maxcdn.bootstrapcdn.com/bootstrap/3.4.1/</a:t>
            </a:r>
            <a:r>
              <a:rPr lang="en-US" altLang="en-US" sz="2000" dirty="0" err="1"/>
              <a:t>js</a:t>
            </a:r>
            <a:r>
              <a:rPr lang="en-US" altLang="en-US" sz="2000" dirty="0"/>
              <a:t>/bootstrap.min.js"&gt;&lt;/script&gt;</a:t>
            </a:r>
          </a:p>
          <a:p>
            <a:pPr marL="0" indent="0">
              <a:buNone/>
            </a:pPr>
            <a:r>
              <a:rPr lang="en-US" altLang="en-US" sz="2000" dirty="0"/>
              <a:t>&lt;/head&gt;</a:t>
            </a:r>
          </a:p>
          <a:p>
            <a:pPr marL="0" indent="0">
              <a:buNone/>
            </a:pPr>
            <a:r>
              <a:rPr lang="en-US" altLang="en-US" sz="2000" dirty="0"/>
              <a:t>&lt;body&gt;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&lt;div class="container"&gt;</a:t>
            </a:r>
          </a:p>
          <a:p>
            <a:pPr marL="0" indent="0">
              <a:buNone/>
            </a:pPr>
            <a:r>
              <a:rPr lang="en-US" altLang="en-US" sz="2000" dirty="0"/>
              <a:t>  &lt;h2&gt;Button Tags&lt;/h2&gt;</a:t>
            </a:r>
          </a:p>
          <a:p>
            <a:pPr marL="0" indent="0">
              <a:buNone/>
            </a:pPr>
            <a:r>
              <a:rPr lang="en-US" altLang="en-US" sz="2000" dirty="0"/>
              <a:t>  &lt;a </a:t>
            </a:r>
            <a:r>
              <a:rPr lang="en-US" altLang="en-US" sz="2000" dirty="0" err="1"/>
              <a:t>href</a:t>
            </a:r>
            <a:r>
              <a:rPr lang="en-US" altLang="en-US" sz="2000" dirty="0"/>
              <a:t>="#" class="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-info" role="button"&gt;Link Button&lt;/a&gt;</a:t>
            </a:r>
          </a:p>
          <a:p>
            <a:pPr marL="0" indent="0">
              <a:buNone/>
            </a:pPr>
            <a:r>
              <a:rPr lang="en-US" altLang="en-US" sz="2000" dirty="0"/>
              <a:t>  &lt;button type="button" class="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-info"&gt;Button&lt;/button&gt;</a:t>
            </a:r>
          </a:p>
          <a:p>
            <a:pPr marL="0" indent="0">
              <a:buNone/>
            </a:pPr>
            <a:r>
              <a:rPr lang="en-US" altLang="en-US" sz="2000" dirty="0"/>
              <a:t>  &lt;input type="button" class="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-info" value="Input Button"&gt;</a:t>
            </a:r>
          </a:p>
          <a:p>
            <a:pPr marL="0" indent="0">
              <a:buNone/>
            </a:pPr>
            <a:r>
              <a:rPr lang="en-US" altLang="en-US" sz="2000" dirty="0"/>
              <a:t>  &lt;input type="submit" class="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btn</a:t>
            </a:r>
            <a:r>
              <a:rPr lang="en-US" altLang="en-US" sz="2000" dirty="0"/>
              <a:t>-info" value="Submit Button"&gt;</a:t>
            </a:r>
          </a:p>
          <a:p>
            <a:pPr marL="0" indent="0">
              <a:buNone/>
            </a:pPr>
            <a:r>
              <a:rPr lang="en-US" altLang="en-US" sz="2000" dirty="0"/>
              <a:t>&lt;/div&gt;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&lt;/body&gt;</a:t>
            </a:r>
          </a:p>
          <a:p>
            <a:pPr marL="0" indent="0">
              <a:buNone/>
            </a:pPr>
            <a:r>
              <a:rPr lang="en-US" altLang="en-US" sz="2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20893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225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Button Sizes</a:t>
            </a:r>
          </a:p>
        </p:txBody>
      </p:sp>
      <p:sp>
        <p:nvSpPr>
          <p:cNvPr id="22538" name="Rectangle 225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40" name="Rectangle 225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42" name="Rectangle 225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8778" y="2553970"/>
            <a:ext cx="11273463" cy="3772090"/>
          </a:xfrm>
        </p:spPr>
        <p:txBody>
          <a:bodyPr anchor="ctr">
            <a:normAutofit/>
          </a:bodyPr>
          <a:lstStyle/>
          <a:p>
            <a:r>
              <a:rPr lang="en-US" altLang="en-US" sz="2700"/>
              <a:t>Bootstrap provides four button sizes with the following classes: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700"/>
              <a:t>	.btn-lg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700"/>
              <a:t>	.btn-md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700"/>
              <a:t>	.btn-sm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700"/>
              <a:t>	.btn-xs</a:t>
            </a:r>
          </a:p>
          <a:p>
            <a:endParaRPr lang="en-US" altLang="en-US" sz="2700"/>
          </a:p>
        </p:txBody>
      </p:sp>
    </p:spTree>
    <p:extLst>
      <p:ext uri="{BB962C8B-B14F-4D97-AF65-F5344CB8AC3E}">
        <p14:creationId xmlns:p14="http://schemas.microsoft.com/office/powerpoint/2010/main" val="1156258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0" name="Rectangle 23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Block Level Buttons</a:t>
            </a:r>
          </a:p>
        </p:txBody>
      </p:sp>
      <p:sp>
        <p:nvSpPr>
          <p:cNvPr id="23562" name="Rectangle 23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4" name="Rectangle 23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6" name="Rectangle 23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731520" y="2609331"/>
            <a:ext cx="10597729" cy="954465"/>
          </a:xfrm>
        </p:spPr>
        <p:txBody>
          <a:bodyPr anchor="ctr">
            <a:normAutofit/>
          </a:bodyPr>
          <a:lstStyle/>
          <a:p>
            <a:pPr algn="just"/>
            <a:r>
              <a:rPr lang="en-US" altLang="en-US" sz="2700" dirty="0"/>
              <a:t>A block level button spans the entire width of the parent element.</a:t>
            </a:r>
          </a:p>
          <a:p>
            <a:pPr lvl="1" algn="just"/>
            <a:r>
              <a:rPr lang="en-US" altLang="en-US" sz="2700" dirty="0"/>
              <a:t>Add class .</a:t>
            </a:r>
            <a:r>
              <a:rPr lang="en-US" altLang="en-US" sz="2700" dirty="0" err="1"/>
              <a:t>btn</a:t>
            </a:r>
            <a:r>
              <a:rPr lang="en-US" altLang="en-US" sz="2700" dirty="0"/>
              <a:t>-block to create a block level button: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06" y="3655652"/>
            <a:ext cx="10196743" cy="1568730"/>
          </a:xfrm>
          <a:prstGeom prst="rect">
            <a:avLst/>
          </a:prstGeom>
        </p:spPr>
      </p:pic>
      <p:sp>
        <p:nvSpPr>
          <p:cNvPr id="9" name="Content Placeholder 2"/>
          <p:cNvSpPr txBox="1"/>
          <p:nvPr/>
        </p:nvSpPr>
        <p:spPr>
          <a:xfrm>
            <a:off x="792158" y="5441084"/>
            <a:ext cx="10597729" cy="954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&lt;button type="button" class="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-primary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-block"&gt;Button 1&lt;/button&gt;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322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4" name="Rectangle 245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Active/Disabled Buttons</a:t>
            </a:r>
          </a:p>
        </p:txBody>
      </p:sp>
      <p:sp>
        <p:nvSpPr>
          <p:cNvPr id="24586" name="Rectangle 2458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88" name="Rectangle 2458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90" name="Rectangle 2458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789456" y="2798384"/>
            <a:ext cx="10597729" cy="3600693"/>
          </a:xfrm>
        </p:spPr>
        <p:txBody>
          <a:bodyPr anchor="ctr">
            <a:normAutofit/>
          </a:bodyPr>
          <a:lstStyle/>
          <a:p>
            <a:pPr algn="just"/>
            <a:r>
              <a:rPr lang="en-US" altLang="en-US" sz="2700" dirty="0"/>
              <a:t>A button can be set to an active (appear pressed) or a disabled (</a:t>
            </a:r>
            <a:r>
              <a:rPr lang="en-US" altLang="en-US" sz="2700" dirty="0" err="1"/>
              <a:t>unclickable</a:t>
            </a:r>
            <a:r>
              <a:rPr lang="en-US" altLang="en-US" sz="2700" dirty="0"/>
              <a:t>) state:</a:t>
            </a:r>
          </a:p>
          <a:p>
            <a:pPr lvl="1" algn="just"/>
            <a:r>
              <a:rPr lang="en-US" altLang="en-US" sz="2700" dirty="0"/>
              <a:t>The class .active makes a button appear pressed, and the class .disabled makes a button </a:t>
            </a:r>
            <a:r>
              <a:rPr lang="en-US" altLang="en-US" sz="2700" dirty="0" err="1"/>
              <a:t>unclickable</a:t>
            </a:r>
            <a:r>
              <a:rPr lang="en-US" altLang="en-US" sz="2700" dirty="0"/>
              <a:t>:</a:t>
            </a:r>
          </a:p>
          <a:p>
            <a:pPr marL="0" indent="0">
              <a:buNone/>
            </a:pPr>
            <a:r>
              <a:rPr lang="en-US" sz="2400" dirty="0"/>
              <a:t>&lt;button type="button" class="</a:t>
            </a:r>
            <a:r>
              <a:rPr lang="en-US" sz="2400" dirty="0" err="1"/>
              <a:t>btn</a:t>
            </a:r>
            <a:r>
              <a:rPr lang="en-US" sz="2400" dirty="0"/>
              <a:t> </a:t>
            </a:r>
            <a:r>
              <a:rPr lang="en-US" sz="2400" dirty="0" err="1"/>
              <a:t>btn</a:t>
            </a:r>
            <a:r>
              <a:rPr lang="en-US" sz="2400" dirty="0"/>
              <a:t>-primary active"&gt;Active Primary&lt;/button&gt;</a:t>
            </a:r>
            <a:br>
              <a:rPr lang="en-US" dirty="0"/>
            </a:br>
            <a:r>
              <a:rPr lang="en-US" sz="2400" dirty="0"/>
              <a:t>&lt;button type="button" class="</a:t>
            </a:r>
            <a:r>
              <a:rPr lang="en-US" sz="2400" dirty="0" err="1"/>
              <a:t>btn</a:t>
            </a:r>
            <a:r>
              <a:rPr lang="en-US" sz="2400" dirty="0"/>
              <a:t> </a:t>
            </a:r>
            <a:r>
              <a:rPr lang="en-US" sz="2400" dirty="0" err="1"/>
              <a:t>btn</a:t>
            </a:r>
            <a:r>
              <a:rPr lang="en-US" sz="2400" dirty="0"/>
              <a:t>-primary disabled"&gt;Disabled Primary&lt;/button&gt;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5806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Beyond Bootstrap 3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This lecture covers Bootstrap 3 (2011). Web development has moved on since.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Modern CSS now natively does much of what frameworks used to require.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Coming up:</a:t>
            </a:r>
          </a:p>
          <a:p>
            <a:pPr lvl="1">
              <a:lnSpc>
                <a:spcPct val="150000"/>
              </a:lnSpc>
            </a:pPr>
            <a:r>
              <a:rPr lang="en-US" altLang="en-US" sz="2400" b="1"/>
              <a:t>Flexbox &amp; CSS Grid</a:t>
            </a:r>
            <a:endParaRPr lang="en-US" altLang="en-US" sz="2400"/>
          </a:p>
          <a:p>
            <a:pPr lvl="1">
              <a:lnSpc>
                <a:spcPct val="150000"/>
              </a:lnSpc>
            </a:pPr>
            <a:r>
              <a:rPr lang="en-US" altLang="en-US" sz="2400" b="1"/>
              <a:t>Media queries &amp; container queries</a:t>
            </a:r>
            <a:endParaRPr lang="en-US" altLang="en-US" sz="2400"/>
          </a:p>
          <a:p>
            <a:pPr lvl="1">
              <a:lnSpc>
                <a:spcPct val="150000"/>
              </a:lnSpc>
            </a:pPr>
            <a:r>
              <a:rPr lang="en-US" altLang="en-US" sz="2400" b="1"/>
              <a:t>Responsive images</a:t>
            </a:r>
            <a:endParaRPr lang="en-US" altLang="en-US" sz="2400"/>
          </a:p>
          <a:p>
            <a:pPr lvl="1">
              <a:lnSpc>
                <a:spcPct val="150000"/>
              </a:lnSpc>
            </a:pPr>
            <a:r>
              <a:rPr lang="en-US" altLang="en-US" sz="2400" b="1"/>
              <a:t>Bootstrap 5 &amp; Tailwind CSS</a:t>
            </a:r>
            <a:endParaRPr lang="en-US" altLang="en-US" sz="2400"/>
          </a:p>
          <a:p>
            <a:pPr lvl="1">
              <a:lnSpc>
                <a:spcPct val="150000"/>
              </a:lnSpc>
            </a:pPr>
            <a:r>
              <a:rPr lang="en-US" altLang="en-US" sz="2400" b="1"/>
              <a:t>Performance best practices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607595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CSS Flexbox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A native CSS layout mode for arranging items in a single row or column.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No framework or extra classes needed — just plain CSS properties.</a:t>
            </a:r>
          </a:p>
          <a:p>
            <a:pPr lvl="1">
              <a:lnSpc>
                <a:spcPct val="150000"/>
              </a:lnSpc>
            </a:pPr>
            <a:r>
              <a:rPr lang="en-US" altLang="en-US" sz="2400" b="1"/>
              <a:t>display: flex;</a:t>
            </a:r>
            <a:r>
              <a:rPr lang="en-US" altLang="en-US" sz="2400"/>
              <a:t> turns a container into a flex container</a:t>
            </a:r>
          </a:p>
          <a:p>
            <a:pPr lvl="1">
              <a:lnSpc>
                <a:spcPct val="150000"/>
              </a:lnSpc>
            </a:pPr>
            <a:r>
              <a:rPr lang="en-US" altLang="en-US" sz="2400" b="1"/>
              <a:t>justify-content</a:t>
            </a:r>
            <a:r>
              <a:rPr lang="en-US" altLang="en-US" sz="2400"/>
              <a:t> and </a:t>
            </a:r>
            <a:r>
              <a:rPr lang="en-US" altLang="en-US" sz="2400" b="1"/>
              <a:t>align-items</a:t>
            </a:r>
            <a:r>
              <a:rPr lang="en-US" altLang="en-US" sz="2400"/>
              <a:t> control spacing and alignment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Commonly used for navigation bars, card rows, and centering content.</a:t>
            </a:r>
          </a:p>
        </p:txBody>
      </p:sp>
    </p:spTree>
    <p:extLst>
      <p:ext uri="{BB962C8B-B14F-4D97-AF65-F5344CB8AC3E}">
        <p14:creationId xmlns:p14="http://schemas.microsoft.com/office/powerpoint/2010/main" val="519725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CSS Grid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A native, two-dimensional CSS layout system — rows AND columns together.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Where Bootstrap's grid needs 12 .col-* divs, CSS Grid needs one property.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display: grid;</a:t>
            </a:r>
            <a:endParaRPr lang="en-US" altLang="en-US" sz="2400"/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grid-template-columns: repeat(3, 1fr);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Many teams now reach for Grid instead of a framework's grid system.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Still responsive — pair it with media queries to change column count per screen size.</a:t>
            </a:r>
          </a:p>
        </p:txBody>
      </p:sp>
    </p:spTree>
    <p:extLst>
      <p:ext uri="{BB962C8B-B14F-4D97-AF65-F5344CB8AC3E}">
        <p14:creationId xmlns:p14="http://schemas.microsoft.com/office/powerpoint/2010/main" val="3046317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Media Queries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Bootstrap's responsive classes are themselves built on media queries under the hood.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A media query applies CSS only when a condition (like screen width) is true.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@media (min-width: 768px) { ... }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Common breakpoints:</a:t>
            </a:r>
          </a:p>
          <a:p>
            <a:pPr lvl="1">
              <a:lnSpc>
                <a:spcPct val="150000"/>
              </a:lnSpc>
            </a:pPr>
            <a:r>
              <a:rPr lang="en-US" altLang="en-US" sz="2400"/>
              <a:t>576px (phones)  ·  768px (tablets)  ·  992px (desktops)  ·  1200px (large desktops)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Understanding media queries means you can build responsive layouts without any framework.</a:t>
            </a:r>
          </a:p>
        </p:txBody>
      </p:sp>
    </p:spTree>
    <p:extLst>
      <p:ext uri="{BB962C8B-B14F-4D97-AF65-F5344CB8AC3E}">
        <p14:creationId xmlns:p14="http://schemas.microsoft.com/office/powerpoint/2010/main" val="664102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Container Queries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A newer CSS feature, with broad browser support since 2023.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Media queries respond to the viewport; container queries respond to a component's own container.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Lets the same card component look different in a wide sidebar vs. a narrow one.</a:t>
            </a:r>
          </a:p>
          <a:p>
            <a:pPr lvl="1">
              <a:lnSpc>
                <a:spcPct val="150000"/>
              </a:lnSpc>
            </a:pPr>
            <a:r>
              <a:rPr lang="en-US" altLang="en-US" sz="2400" b="1"/>
              <a:t>container-type: inline-size;</a:t>
            </a:r>
            <a:r>
              <a:rPr lang="en-US" altLang="en-US" sz="2400"/>
              <a:t> on the parent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@container (min-width: 400px) { ... }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Useful for reusable components that end up in different layout contexts.</a:t>
            </a:r>
          </a:p>
        </p:txBody>
      </p:sp>
    </p:spTree>
    <p:extLst>
      <p:ext uri="{BB962C8B-B14F-4D97-AF65-F5344CB8AC3E}">
        <p14:creationId xmlns:p14="http://schemas.microsoft.com/office/powerpoint/2010/main" val="1677958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Responsive Images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Bootstrap's .img-responsive / .img-fluid only scales one single image file.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Native HTML can serve different image files for different screen sizes.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&lt;img srcset="small.jpg 480w, large.jpg 1080w" sizes="..."&gt;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The &lt;picture&gt; element allows art direction — swap the whole image, not just its size.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Cuts data usage — phones no longer have to download desktop-sized images.</a:t>
            </a:r>
          </a:p>
        </p:txBody>
      </p:sp>
    </p:spTree>
    <p:extLst>
      <p:ext uri="{BB962C8B-B14F-4D97-AF65-F5344CB8AC3E}">
        <p14:creationId xmlns:p14="http://schemas.microsoft.com/office/powerpoint/2010/main" val="1097625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Fluid Typography &amp; Custom Properties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CSS custom properties (variables) store reusable values: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--primary-color: #337ab7;</a:t>
            </a:r>
            <a:r>
              <a:rPr lang="en-US" altLang="en-US" sz="2000">
                <a:solidFill>
                  <a:srgbClr val="1F3864"/>
                </a:solidFill>
                <a:latin typeface="Consolas"/>
                <a:cs typeface="Consolas"/>
              </a:rPr>
              <a:t>  used via  </a:t>
            </a: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var(--primary-color)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clamp(min, preferred, max) lets a value scale smoothly between screen sizes.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font-size: clamp(1rem, 2vw + 1rem, 2.5rem);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Removes the need for many fixed breakpoints just to resize text.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Both features are supported in all modern browsers.</a:t>
            </a:r>
          </a:p>
        </p:txBody>
      </p:sp>
    </p:spTree>
    <p:extLst>
      <p:ext uri="{BB962C8B-B14F-4D97-AF65-F5344CB8AC3E}">
        <p14:creationId xmlns:p14="http://schemas.microsoft.com/office/powerpoint/2010/main" val="3872228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Mobile-First vs. Desktop-First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Bootstrap popularized mobile-first: base styles target small screens, then media queries add complexity for larger ones.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Desktop-first does the reverse — start big, use max-width queries to simplify down.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Mobile-first is now the industry default, since mobile traffic overtook desktop years ago.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Encourages a leaner base experience and progressive enhancement.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Worth revisiting: the deck's own “mobile-first” mention (Slide 2) is a design philosophy, not just a Bootstrap feature.</a:t>
            </a:r>
          </a:p>
        </p:txBody>
      </p:sp>
    </p:spTree>
    <p:extLst>
      <p:ext uri="{BB962C8B-B14F-4D97-AF65-F5344CB8AC3E}">
        <p14:creationId xmlns:p14="http://schemas.microsoft.com/office/powerpoint/2010/main" val="1874474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Bootstrap 5: What's New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/>
              <a:t>Dropped jQuery entirely — pure vanilla JavaScript.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Dropped Internet Explorer support.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Added a new xxl breakpoint for extra-large screens.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New utility API for generating custom classes.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New components: offcanvas, floating form labels.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Current CDN links use jsDelivr, not the retired MaxCDN shown earlier in this deck.</a:t>
            </a:r>
          </a:p>
        </p:txBody>
      </p:sp>
    </p:spTree>
    <p:extLst>
      <p:ext uri="{BB962C8B-B14F-4D97-AF65-F5344CB8AC3E}">
        <p14:creationId xmlns:p14="http://schemas.microsoft.com/office/powerpoint/2010/main" val="4003381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5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>
                <a:solidFill>
                  <a:srgbClr val="FFFFFF"/>
                </a:solidFill>
              </a:rPr>
              <a:t>Tailwind CSS: A Different Approach</a:t>
            </a:r>
          </a:p>
        </p:txBody>
      </p:sp>
      <p:sp>
        <p:nvSpPr>
          <p:cNvPr id="5130" name="Rectangle 5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32" name="Rectangle 5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A utility-first CSS framework, now rivaling Bootstrap in popularity.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Instead of pre-built components like .btn-primary, you compose small utility classes directly in HTML.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1F3864"/>
                </a:solidFill>
                <a:latin typeface="Consolas"/>
                <a:cs typeface="Consolas"/>
              </a:rPr>
              <a:t>class="px-4 py-2 bg-blue-500 rounded"</a:t>
            </a:r>
            <a:endParaRPr lang="en-US" altLang="en-US" sz="2400"/>
          </a:p>
          <a:p>
            <a:pPr>
              <a:lnSpc>
                <a:spcPct val="150000"/>
              </a:lnSpc>
            </a:pPr>
            <a:r>
              <a:rPr lang="en-US" altLang="en-US" sz="2400"/>
              <a:t>Trade-off: more classes in the markup, but no fighting the framework's built-in look.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Good discussion point: component frameworks (Bootstrap) vs. utility frameworks (Tailwind).</a:t>
            </a:r>
          </a:p>
        </p:txBody>
      </p:sp>
    </p:spTree>
    <p:extLst>
      <p:ext uri="{BB962C8B-B14F-4D97-AF65-F5344CB8AC3E}">
        <p14:creationId xmlns:p14="http://schemas.microsoft.com/office/powerpoint/2010/main" val="1449904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6" name="Rectangle 2560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2057" y="450222"/>
            <a:ext cx="11248533" cy="2781866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774698" y="762000"/>
            <a:ext cx="10622327" cy="21441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4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25617" name="Rectangle 2560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7505" y="3395972"/>
            <a:ext cx="1332806" cy="1417320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618" name="Rectangle 256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2054" y="4965191"/>
            <a:ext cx="1338257" cy="1437773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619" name="Rectangle 256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975100" y="3395974"/>
            <a:ext cx="9735491" cy="3006991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113472" y="3490397"/>
            <a:ext cx="9513590" cy="2927562"/>
          </a:xfrm>
        </p:spPr>
        <p:txBody>
          <a:bodyPr anchor="ctr">
            <a:normAutofit/>
          </a:bodyPr>
          <a:lstStyle/>
          <a:p>
            <a:pPr algn="just" eaLnBrk="1" hangingPunct="1"/>
            <a:r>
              <a:rPr lang="en-US" altLang="en-US" sz="2400" dirty="0"/>
              <a:t>Discovering the Internet: Complete, Jennifer Campbell, Course Technology, Cengage Learning, 5th Edition-2015, ISBN 978-1-285-84540-1.</a:t>
            </a:r>
          </a:p>
          <a:p>
            <a:pPr algn="just" eaLnBrk="1" hangingPunct="1"/>
            <a:r>
              <a:rPr lang="en-US" altLang="en-US" sz="2400" dirty="0"/>
              <a:t>Basics of Web Design HTML5 &amp; CSS3, Second Edition, by Terry Felke-Morris, Peason, ISBN 978-0-13-312891-8.</a:t>
            </a:r>
            <a:endParaRPr lang="en-US" altLang="en-US" sz="2400" dirty="0">
              <a:cs typeface="Calibri" panose="020F0502020204030204"/>
            </a:endParaRPr>
          </a:p>
          <a:p>
            <a:pPr algn="just" eaLnBrk="1" hangingPunct="1"/>
            <a:r>
              <a:rPr lang="en-US" altLang="en-US" sz="2400" dirty="0">
                <a:hlinkClick r:id="rId2"/>
              </a:rPr>
              <a:t>W3schools.com</a:t>
            </a:r>
            <a:endParaRPr lang="en-US" altLang="en-US" sz="2400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n-US" altLang="en-US" sz="24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27442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3060</Words>
  <Application>Microsoft Office PowerPoint</Application>
  <PresentationFormat>Widescreen</PresentationFormat>
  <Paragraphs>270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Consolas</vt:lpstr>
      <vt:lpstr>1_Office Theme</vt:lpstr>
      <vt:lpstr>Responsive Web Design</vt:lpstr>
      <vt:lpstr>What is Responsive Web Design?</vt:lpstr>
      <vt:lpstr>What is Bootstrap?</vt:lpstr>
      <vt:lpstr>Bootstrap History</vt:lpstr>
      <vt:lpstr>Bootstrap History</vt:lpstr>
      <vt:lpstr>Getting Bootstrap</vt:lpstr>
      <vt:lpstr>Bootstrap CDN</vt:lpstr>
      <vt:lpstr>Create Web Page with Bootstrap (1)</vt:lpstr>
      <vt:lpstr>Example 1 </vt:lpstr>
      <vt:lpstr>Create Web Page with Bootstrap (2)</vt:lpstr>
      <vt:lpstr>Create Web Page with Bootstrap (3)</vt:lpstr>
      <vt:lpstr>Example</vt:lpstr>
      <vt:lpstr>Responsive Containers</vt:lpstr>
      <vt:lpstr>Bootstrap Grids</vt:lpstr>
      <vt:lpstr>Bootstrap Grids</vt:lpstr>
      <vt:lpstr>Grid Classes</vt:lpstr>
      <vt:lpstr>Basic Structure of a Bootstrap Grid</vt:lpstr>
      <vt:lpstr>Example 2</vt:lpstr>
      <vt:lpstr>Bootstrap Tables</vt:lpstr>
      <vt:lpstr>Bootstrap Images</vt:lpstr>
      <vt:lpstr>Bootstrap Buttons</vt:lpstr>
      <vt:lpstr>Bootstrap Buttons</vt:lpstr>
      <vt:lpstr>Bootstrap Button Elements</vt:lpstr>
      <vt:lpstr>Bootstrap Button Elements</vt:lpstr>
      <vt:lpstr>Button Sizes</vt:lpstr>
      <vt:lpstr>Block Level Buttons</vt:lpstr>
      <vt:lpstr>Active/Disabled Buttons</vt:lpstr>
      <vt:lpstr>Beyond Bootstrap 3</vt:lpstr>
      <vt:lpstr>CSS Flexbox</vt:lpstr>
      <vt:lpstr>CSS Grid</vt:lpstr>
      <vt:lpstr>Media Queries</vt:lpstr>
      <vt:lpstr>Container Queries</vt:lpstr>
      <vt:lpstr>Responsive Images</vt:lpstr>
      <vt:lpstr>Fluid Typography &amp; Custom Properties</vt:lpstr>
      <vt:lpstr>Mobile-First vs. Desktop-First</vt:lpstr>
      <vt:lpstr>Bootstrap 5: What's New</vt:lpstr>
      <vt:lpstr>Tailwind CSS: A Different Approach</vt:lpstr>
      <vt:lpstr>References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Pubudu Nallaperuma</dc:creator>
  <cp:lastModifiedBy>Pubudu Nallaperuma</cp:lastModifiedBy>
  <cp:revision>3</cp:revision>
  <dcterms:created xsi:type="dcterms:W3CDTF">2026-09-04T10:22:50Z</dcterms:created>
  <dcterms:modified xsi:type="dcterms:W3CDTF">2026-09-06T07:34:03Z</dcterms:modified>
</cp:coreProperties>
</file>